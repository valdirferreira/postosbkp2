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378070" r:id="rId2"/>
    <p:sldId id="2147378071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A28369-2E6B-4570-AFC6-78E6BB9410A8}" v="1" dt="2025-12-15T19:37:32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Perpetua" userId="d3203607-1e00-4247-b432-2ec9089b2408" providerId="ADAL" clId="{374F5271-14D5-4E52-BB8D-DA1C65538913}"/>
    <pc:docChg chg="addSld delSld modSld">
      <pc:chgData name="Pedro Perpetua" userId="d3203607-1e00-4247-b432-2ec9089b2408" providerId="ADAL" clId="{374F5271-14D5-4E52-BB8D-DA1C65538913}" dt="2025-12-15T19:50:58.686" v="111" actId="1076"/>
      <pc:docMkLst>
        <pc:docMk/>
      </pc:docMkLst>
      <pc:sldChg chg="new del">
        <pc:chgData name="Pedro Perpetua" userId="d3203607-1e00-4247-b432-2ec9089b2408" providerId="ADAL" clId="{374F5271-14D5-4E52-BB8D-DA1C65538913}" dt="2025-12-15T19:37:34.602" v="2" actId="47"/>
        <pc:sldMkLst>
          <pc:docMk/>
          <pc:sldMk cId="2590720122" sldId="256"/>
        </pc:sldMkLst>
      </pc:sldChg>
      <pc:sldChg chg="modSp add mod">
        <pc:chgData name="Pedro Perpetua" userId="d3203607-1e00-4247-b432-2ec9089b2408" providerId="ADAL" clId="{374F5271-14D5-4E52-BB8D-DA1C65538913}" dt="2025-12-15T19:50:58.686" v="111" actId="1076"/>
        <pc:sldMkLst>
          <pc:docMk/>
          <pc:sldMk cId="2124313900" sldId="2147378070"/>
        </pc:sldMkLst>
        <pc:spChg chg="mod">
          <ac:chgData name="Pedro Perpetua" userId="d3203607-1e00-4247-b432-2ec9089b2408" providerId="ADAL" clId="{374F5271-14D5-4E52-BB8D-DA1C65538913}" dt="2025-12-15T19:50:58.686" v="111" actId="1076"/>
          <ac:spMkLst>
            <pc:docMk/>
            <pc:sldMk cId="2124313900" sldId="2147378070"/>
            <ac:spMk id="13" creationId="{34AF903F-AF07-7268-25E0-95F8E88F97C0}"/>
          </ac:spMkLst>
        </pc:spChg>
      </pc:sldChg>
      <pc:sldChg chg="add">
        <pc:chgData name="Pedro Perpetua" userId="d3203607-1e00-4247-b432-2ec9089b2408" providerId="ADAL" clId="{374F5271-14D5-4E52-BB8D-DA1C65538913}" dt="2025-12-15T19:37:32.553" v="1"/>
        <pc:sldMkLst>
          <pc:docMk/>
          <pc:sldMk cId="611996457" sldId="21473780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EE95E-A8E7-454F-85AA-A1BBA7E80981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ADB85-BFF8-40C7-99B0-97473AB34D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413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Padronizar escala de Recomendação para intervalo de 0 a 10</a:t>
            </a:r>
            <a:r>
              <a:rPr lang="pt-BR" dirty="0">
                <a:effectLst/>
              </a:rPr>
              <a:t>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6BD58-E537-440B-B591-11F228E1FF8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5491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6BD58-E537-440B-B591-11F228E1FF8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40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C87E8-DCEB-A490-247F-79EB05AED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F659F-AA41-C9FA-32B2-425D1AE16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8A52A6-B0E2-1277-F4BC-543105267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CD3258-7368-B78F-A7C9-B7EC3FC9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5E3F82-ED56-D3F5-6F40-906265A1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54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27A3B-859A-EB21-B963-39B610B8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DAB8DA-4E92-A83D-DD6E-1FC8772BA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68B5C4-28E6-6AFE-BC22-0C5DF3609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C903BE-F1EA-72CF-6843-7505BA69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6F6631-2B57-64FD-FBF0-DB11B2F7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92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355DB-531B-0EAD-F3BE-CEEE9579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219046-5708-3E13-B216-B7F178F7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C425D8-FE18-3DFA-9D17-CF256EC9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56CCF-0CFA-7202-0F73-A2E31A48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50C2A1-01A5-7BC6-E87C-58E720F7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235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FE0C3-77AF-4EF4-D7AF-B22ADBE8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DB1F05-C1A7-1E28-F215-D7EF308BD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1932B3-9D74-9DFF-7CB6-89D9FA086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732FDC-D457-CFE1-71C1-FDF0F6475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17D0A8-5BE9-98D6-85FF-570465B8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15E960-5A64-BA8E-8B8A-020E3005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72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F7CA9-8FD2-0FAD-E9C8-9AB3E52C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886598-CF15-59C1-0EFC-4F3806B94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247E50-DBF6-71B8-07BF-53C292E6E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B26DF2-8B5B-35CE-C117-0AA666925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34D8B97-D110-3640-F6B8-4E682A598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616F1F9-3CEF-D628-7A01-190EE661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803E0B-3DBC-1862-86E9-352787FF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A04B4D1-85A6-745F-DC0B-C68069FF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27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EC9D2-9B0E-B90A-9579-41B8DC04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A3186B0-E6D4-466C-0968-3A0A90B7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04D3779-EA35-A995-05DE-CC3A7A3C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730BA0-D42E-9CC6-29E1-093D40E5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72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860835-CBEA-3C9D-14B6-F06514676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B30521-41B9-379A-FD80-54839243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9E5160-5EA7-096D-1359-8B8AB72C7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24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DB7B0-FBEF-8126-585C-7FA50948B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4C5A38-C5FC-398D-EDD1-971F8C81C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5824C1-FD79-1EB9-53DF-92AF7ACCF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7C987-333B-CE78-535C-23EFB87D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48E784-EA4E-557C-3D5B-8DAAB1C5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1FBE2C-6B40-BF6E-10AA-CC81BDC1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69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542AA-99A5-40BC-0EA1-A2CC7A98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768F3B9-0583-44FC-3963-1F939C13D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AA9608-4D00-616A-4ED5-940517F39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C04B05-D501-1C4F-3142-02383E2A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84312C-D3DE-183F-8D52-F393BB8D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99A3C6-83F3-5536-C050-B6BC7A6B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52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5DBBF-48B8-E35B-A8C1-E68E8604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82CFBC-CF21-8A6D-4CB3-D4EABC3EF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A08EC0-DA92-6522-E080-69DAE20C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DD0147-5F57-6AEC-B7A5-DE069920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142917-DDDE-AA0D-B44E-B7CB884A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74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450532-2910-5D9F-CCFC-FFB442F2B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2C94E7-B980-E378-5131-D67C907D8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F0A333-5F42-041E-20A3-0F7484A4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85D300-0021-B3A9-7016-2C8DD795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F6EDFF-37D5-3CBA-0272-AC4A78B0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137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Header">
            <a:extLst>
              <a:ext uri="{FF2B5EF4-FFF2-40B4-BE49-F238E27FC236}">
                <a16:creationId xmlns:a16="http://schemas.microsoft.com/office/drawing/2014/main" id="{4E7DB10B-B766-4A3C-BABF-17B2D91DB2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1" y="1792800"/>
            <a:ext cx="2591650" cy="387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/>
              <a:t>Text level 1</a:t>
            </a:r>
          </a:p>
          <a:p>
            <a:pPr lvl="2"/>
            <a:r>
              <a:rPr lang="en-GB"/>
              <a:t>Text level 2</a:t>
            </a:r>
          </a:p>
        </p:txBody>
      </p:sp>
      <p:sp>
        <p:nvSpPr>
          <p:cNvPr id="8" name="Chart / Diagram">
            <a:extLst>
              <a:ext uri="{FF2B5EF4-FFF2-40B4-BE49-F238E27FC236}">
                <a16:creationId xmlns:a16="http://schemas.microsoft.com/office/drawing/2014/main" id="{08D894DB-FF91-4B8E-8C44-72A8DC9940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55975" y="1792800"/>
            <a:ext cx="8410071" cy="387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Insert diagram or visual content here</a:t>
            </a:r>
          </a:p>
        </p:txBody>
      </p:sp>
      <p:sp>
        <p:nvSpPr>
          <p:cNvPr id="11" name="Base &amp; Source">
            <a:extLst>
              <a:ext uri="{FF2B5EF4-FFF2-40B4-BE49-F238E27FC236}">
                <a16:creationId xmlns:a16="http://schemas.microsoft.com/office/drawing/2014/main" id="{C52F8B06-1F56-44E1-9BCB-34E6B05490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2897" y="5823783"/>
            <a:ext cx="11277975" cy="124906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marL="0" indent="0" algn="r">
              <a:buNone/>
              <a:defRPr sz="800" b="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33350" indent="0">
              <a:buNone/>
              <a:defRPr/>
            </a:lvl2pPr>
            <a:lvl3pPr marL="542925" indent="0">
              <a:buNone/>
              <a:defRPr/>
            </a:lvl3pPr>
            <a:lvl4pPr marL="758825" indent="0">
              <a:buNone/>
              <a:defRPr/>
            </a:lvl4pPr>
            <a:lvl5pPr marL="1033463" indent="0">
              <a:buNone/>
              <a:defRPr/>
            </a:lvl5pPr>
          </a:lstStyle>
          <a:p>
            <a:pPr lvl="0"/>
            <a:r>
              <a:rPr lang="en-GB"/>
              <a:t>Base and source info (delete if not necessary)</a:t>
            </a:r>
          </a:p>
        </p:txBody>
      </p:sp>
    </p:spTree>
    <p:extLst>
      <p:ext uri="{BB962C8B-B14F-4D97-AF65-F5344CB8AC3E}">
        <p14:creationId xmlns:p14="http://schemas.microsoft.com/office/powerpoint/2010/main" val="232699595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7D972AC-F725-EC53-B077-8C981D9C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CB3695-1E4E-733F-1620-A7D96FF48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20C120-3838-6997-BA71-E92C350C0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1FD1C-147C-41CB-83DE-659B7D52CBDD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8BC27A-F6D3-48B8-5C50-C05028DDB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63A117-BA7D-E30D-9EA8-74B1C64E5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38646-7112-49F4-8BF6-4AB0DF927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693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EDE7C-14A2-221B-3156-BE8030B4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 descr="Logotipo&#10;&#10;O conteúdo gerado por IA pode estar incorreto.">
            <a:extLst>
              <a:ext uri="{FF2B5EF4-FFF2-40B4-BE49-F238E27FC236}">
                <a16:creationId xmlns:a16="http://schemas.microsoft.com/office/drawing/2014/main" id="{10F73A57-9706-F752-0588-AAD7866B33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duotone>
              <a:prstClr val="black"/>
              <a:schemeClr val="tx2">
                <a:lumMod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250" y1="24250" x2="47250" y2="24250"/>
                        <a14:foregroundMark x1="49875" y1="21875" x2="49875" y2="21875"/>
                        <a14:foregroundMark x1="64250" y1="22250" x2="64250" y2="22250"/>
                        <a14:foregroundMark x1="62125" y1="25375" x2="62125" y2="25375"/>
                        <a14:foregroundMark x1="60625" y1="31250" x2="60625" y2="31250"/>
                        <a14:foregroundMark x1="65125" y1="28000" x2="65125" y2="28000"/>
                        <a14:foregroundMark x1="64750" y1="34375" x2="64750" y2="3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021" t="13881" r="25574" b="30354"/>
          <a:stretch>
            <a:fillRect/>
          </a:stretch>
        </p:blipFill>
        <p:spPr>
          <a:xfrm>
            <a:off x="-941216" y="-254999"/>
            <a:ext cx="7034057" cy="810376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912B5D6-90FF-C4DB-2CEB-0EE2B2B8E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11299088" cy="715669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pt-BR"/>
              <a:t>Dashboard de acompanhamento – NPS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BDBFB94-C15F-D2B9-999C-5970B586E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389" y="1279752"/>
            <a:ext cx="9531963" cy="42375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7913A01-6D72-0768-CD40-5C92DC0AD3EB}"/>
              </a:ext>
            </a:extLst>
          </p:cNvPr>
          <p:cNvSpPr txBox="1"/>
          <p:nvPr/>
        </p:nvSpPr>
        <p:spPr>
          <a:xfrm>
            <a:off x="7543390" y="5029099"/>
            <a:ext cx="173124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JAN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330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644830F-16DD-B291-82D8-5AF5EB7063D9}"/>
              </a:ext>
            </a:extLst>
          </p:cNvPr>
          <p:cNvSpPr txBox="1"/>
          <p:nvPr/>
        </p:nvSpPr>
        <p:spPr>
          <a:xfrm>
            <a:off x="7837941" y="5029098"/>
            <a:ext cx="158698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FEV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140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FC1F475-6D0E-3308-0F65-ED27AFB61275}"/>
              </a:ext>
            </a:extLst>
          </p:cNvPr>
          <p:cNvSpPr txBox="1"/>
          <p:nvPr/>
        </p:nvSpPr>
        <p:spPr>
          <a:xfrm>
            <a:off x="8108321" y="5029098"/>
            <a:ext cx="179536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MAR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228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AAB4D4A-A8D8-364E-07B3-C4A310CFC363}"/>
              </a:ext>
            </a:extLst>
          </p:cNvPr>
          <p:cNvSpPr txBox="1"/>
          <p:nvPr/>
        </p:nvSpPr>
        <p:spPr>
          <a:xfrm>
            <a:off x="8393219" y="5029098"/>
            <a:ext cx="171522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ABR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518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A35C7C7-B082-00B1-69FA-2058E6368DEB}"/>
              </a:ext>
            </a:extLst>
          </p:cNvPr>
          <p:cNvSpPr txBox="1"/>
          <p:nvPr/>
        </p:nvSpPr>
        <p:spPr>
          <a:xfrm>
            <a:off x="8669368" y="5029098"/>
            <a:ext cx="149080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MAI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518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F208C88-8875-8F4D-C71F-BE6A9641D5F6}"/>
              </a:ext>
            </a:extLst>
          </p:cNvPr>
          <p:cNvSpPr txBox="1"/>
          <p:nvPr/>
        </p:nvSpPr>
        <p:spPr>
          <a:xfrm>
            <a:off x="8937378" y="5029098"/>
            <a:ext cx="168316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JUN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973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AF8D98D-AD7B-F6E5-869D-45E17A10C1C7}"/>
              </a:ext>
            </a:extLst>
          </p:cNvPr>
          <p:cNvSpPr txBox="1"/>
          <p:nvPr/>
        </p:nvSpPr>
        <p:spPr>
          <a:xfrm>
            <a:off x="9199747" y="5029098"/>
            <a:ext cx="205184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JUL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1.203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B6E670E-6C3C-4E29-6404-20E28C08F535}"/>
              </a:ext>
            </a:extLst>
          </p:cNvPr>
          <p:cNvSpPr txBox="1"/>
          <p:nvPr/>
        </p:nvSpPr>
        <p:spPr>
          <a:xfrm>
            <a:off x="9475435" y="5029097"/>
            <a:ext cx="171522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AGO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989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8BB131-BB9E-1EF9-DF61-1904ECA60673}"/>
              </a:ext>
            </a:extLst>
          </p:cNvPr>
          <p:cNvSpPr txBox="1"/>
          <p:nvPr/>
        </p:nvSpPr>
        <p:spPr>
          <a:xfrm>
            <a:off x="9730776" y="5029097"/>
            <a:ext cx="158698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SET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312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B330F6B-7D86-E78B-E218-D24A448D58C8}"/>
              </a:ext>
            </a:extLst>
          </p:cNvPr>
          <p:cNvSpPr txBox="1"/>
          <p:nvPr/>
        </p:nvSpPr>
        <p:spPr>
          <a:xfrm>
            <a:off x="9992343" y="5029098"/>
            <a:ext cx="165110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 dirty="0"/>
              <a:t>OUT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 dirty="0"/>
              <a:t>729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EC6B80B-07FE-74A3-2291-85A13243AA20}"/>
              </a:ext>
            </a:extLst>
          </p:cNvPr>
          <p:cNvSpPr txBox="1"/>
          <p:nvPr/>
        </p:nvSpPr>
        <p:spPr>
          <a:xfrm>
            <a:off x="10241272" y="5029098"/>
            <a:ext cx="190758" cy="1224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NOV</a:t>
            </a:r>
          </a:p>
          <a:p>
            <a:pPr algn="ctr">
              <a:lnSpc>
                <a:spcPct val="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700" b="1"/>
              <a:t>1.777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AAD60A4F-5E31-22EA-30A2-E65A581D2C27}"/>
              </a:ext>
            </a:extLst>
          </p:cNvPr>
          <p:cNvCxnSpPr/>
          <p:nvPr/>
        </p:nvCxnSpPr>
        <p:spPr>
          <a:xfrm>
            <a:off x="7467600" y="4919132"/>
            <a:ext cx="30903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9EAFBCB4-7C73-E4A8-A569-5F3964A67304}"/>
              </a:ext>
            </a:extLst>
          </p:cNvPr>
          <p:cNvSpPr/>
          <p:nvPr/>
        </p:nvSpPr>
        <p:spPr>
          <a:xfrm>
            <a:off x="1414463" y="3138488"/>
            <a:ext cx="1247776" cy="176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DFF7147-D40E-F0EC-1568-96B304948D09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1040199" y="3226594"/>
            <a:ext cx="3742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AF903F-AF07-7268-25E0-95F8E88F97C0}"/>
              </a:ext>
            </a:extLst>
          </p:cNvPr>
          <p:cNvSpPr txBox="1"/>
          <p:nvPr/>
        </p:nvSpPr>
        <p:spPr>
          <a:xfrm>
            <a:off x="56099" y="3062928"/>
            <a:ext cx="1028570" cy="947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900" dirty="0">
                <a:solidFill>
                  <a:srgbClr val="FF0000"/>
                </a:solidFill>
              </a:rPr>
              <a:t>Adicionar o dois gráficos lado a lado: um com a Satisfação geral, outro com a recomendação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928D314-8A95-7A1C-8CD6-3909B46279FA}"/>
              </a:ext>
            </a:extLst>
          </p:cNvPr>
          <p:cNvSpPr/>
          <p:nvPr/>
        </p:nvSpPr>
        <p:spPr>
          <a:xfrm>
            <a:off x="2970667" y="2154660"/>
            <a:ext cx="186871" cy="1906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FB859C2F-D0AF-812F-2F0C-2279AF07403D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3157538" y="2249965"/>
            <a:ext cx="2778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0C4B129-3A58-FB75-FBAF-17EA06FD79FA}"/>
              </a:ext>
            </a:extLst>
          </p:cNvPr>
          <p:cNvSpPr txBox="1"/>
          <p:nvPr/>
        </p:nvSpPr>
        <p:spPr>
          <a:xfrm>
            <a:off x="3479800" y="2099057"/>
            <a:ext cx="2279650" cy="3018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900" dirty="0">
                <a:solidFill>
                  <a:srgbClr val="FF0000"/>
                </a:solidFill>
              </a:rPr>
              <a:t> Desenvolver e implementar botão informativo explicando o cálculo e uso do NPS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B9E0C05-1D9D-0118-01C3-F79DBED409FE}"/>
              </a:ext>
            </a:extLst>
          </p:cNvPr>
          <p:cNvSpPr/>
          <p:nvPr/>
        </p:nvSpPr>
        <p:spPr>
          <a:xfrm>
            <a:off x="7474122" y="4940990"/>
            <a:ext cx="2957907" cy="2105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6B1281B9-15B3-6F88-DBDB-555DD0721E5F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8953076" y="5151529"/>
            <a:ext cx="170" cy="2872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135E835-7486-3C6F-0EB9-539B3CAF275D}"/>
              </a:ext>
            </a:extLst>
          </p:cNvPr>
          <p:cNvSpPr txBox="1"/>
          <p:nvPr/>
        </p:nvSpPr>
        <p:spPr>
          <a:xfrm>
            <a:off x="8414361" y="5423951"/>
            <a:ext cx="114683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</a:rPr>
              <a:t>Configurar exibição dos valores totais e do número de entrevistas por mês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B97EE07-EBEB-789D-6891-41A295A6EB63}"/>
              </a:ext>
            </a:extLst>
          </p:cNvPr>
          <p:cNvSpPr/>
          <p:nvPr/>
        </p:nvSpPr>
        <p:spPr>
          <a:xfrm>
            <a:off x="7493055" y="4126373"/>
            <a:ext cx="2977074" cy="3618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742938B1-6EE0-8B79-A774-610A1BE38998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10470129" y="4307275"/>
            <a:ext cx="296153" cy="56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7D517FC-A27B-7F7D-D332-B71B54B8C0C4}"/>
              </a:ext>
            </a:extLst>
          </p:cNvPr>
          <p:cNvSpPr txBox="1"/>
          <p:nvPr/>
        </p:nvSpPr>
        <p:spPr>
          <a:xfrm>
            <a:off x="10777415" y="4070493"/>
            <a:ext cx="835855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</a:rPr>
              <a:t> Ajustar gráfico de linha para permitir alternância entre Recomendação (NPS) e Satisfação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4A4F4C4-8C49-B0B9-31AC-AACAC33D8561}"/>
              </a:ext>
            </a:extLst>
          </p:cNvPr>
          <p:cNvSpPr txBox="1"/>
          <p:nvPr/>
        </p:nvSpPr>
        <p:spPr>
          <a:xfrm>
            <a:off x="4457700" y="2752189"/>
            <a:ext cx="2444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</a:t>
            </a:r>
            <a:r>
              <a:rPr lang="pt-BR" sz="900" dirty="0">
                <a:solidFill>
                  <a:srgbClr val="FF0000"/>
                </a:solidFill>
              </a:rPr>
              <a:t>Incluir texto explicativo destacando que Satisfação é um número bruto e mais sensível com baixo volume de entrevistas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71CE6EDE-A62C-A89C-C3AD-BAC0507CC782}"/>
              </a:ext>
            </a:extLst>
          </p:cNvPr>
          <p:cNvSpPr/>
          <p:nvPr/>
        </p:nvSpPr>
        <p:spPr>
          <a:xfrm>
            <a:off x="4457700" y="3390900"/>
            <a:ext cx="1555750" cy="145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60138C1-E8F5-C2B5-778F-DA5A671A1AD4}"/>
              </a:ext>
            </a:extLst>
          </p:cNvPr>
          <p:cNvSpPr txBox="1"/>
          <p:nvPr/>
        </p:nvSpPr>
        <p:spPr>
          <a:xfrm>
            <a:off x="1865111" y="5250556"/>
            <a:ext cx="221111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</a:rPr>
              <a:t>Configurar cálculo e exibição da Satisfação como média em escala de 1 a 10</a:t>
            </a:r>
          </a:p>
        </p:txBody>
      </p: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10447368-E041-CBF1-7FB1-A00340323365}"/>
              </a:ext>
            </a:extLst>
          </p:cNvPr>
          <p:cNvCxnSpPr>
            <a:cxnSpLocks/>
          </p:cNvCxnSpPr>
          <p:nvPr/>
        </p:nvCxnSpPr>
        <p:spPr>
          <a:xfrm>
            <a:off x="2710825" y="4993822"/>
            <a:ext cx="0" cy="3013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CA53948-B4A6-F282-34C1-EECC27E3C717}"/>
              </a:ext>
            </a:extLst>
          </p:cNvPr>
          <p:cNvSpPr txBox="1"/>
          <p:nvPr/>
        </p:nvSpPr>
        <p:spPr>
          <a:xfrm>
            <a:off x="4351678" y="5453172"/>
            <a:ext cx="2656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</a:rPr>
              <a:t>Implementar </a:t>
            </a:r>
            <a:r>
              <a:rPr lang="pt-BR" sz="900" dirty="0" err="1">
                <a:solidFill>
                  <a:srgbClr val="FF0000"/>
                </a:solidFill>
              </a:rPr>
              <a:t>disclaimer</a:t>
            </a:r>
            <a:r>
              <a:rPr lang="pt-BR" sz="900" dirty="0">
                <a:solidFill>
                  <a:srgbClr val="FF0000"/>
                </a:solidFill>
              </a:rPr>
              <a:t> estatístico automático para amostras inferiores a 30 entrevistas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02C0686-4335-A301-DBE1-B7044BBEF2DB}"/>
              </a:ext>
            </a:extLst>
          </p:cNvPr>
          <p:cNvSpPr txBox="1"/>
          <p:nvPr/>
        </p:nvSpPr>
        <p:spPr>
          <a:xfrm>
            <a:off x="2970667" y="3366747"/>
            <a:ext cx="16120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</a:rPr>
              <a:t>Padronizar escala de Recomendação para intervalo de 0 a 10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98DEB24-E9EB-7D54-4C58-C3180BFA9EA8}"/>
              </a:ext>
            </a:extLst>
          </p:cNvPr>
          <p:cNvSpPr/>
          <p:nvPr/>
        </p:nvSpPr>
        <p:spPr>
          <a:xfrm>
            <a:off x="8575224" y="2281360"/>
            <a:ext cx="892245" cy="2990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pt-BR" sz="1200" dirty="0">
                <a:solidFill>
                  <a:schemeClr val="tx1"/>
                </a:solidFill>
              </a:rPr>
              <a:t>Mês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6D214A6-E245-7351-766D-D01FB91F4133}"/>
              </a:ext>
            </a:extLst>
          </p:cNvPr>
          <p:cNvSpPr/>
          <p:nvPr/>
        </p:nvSpPr>
        <p:spPr>
          <a:xfrm>
            <a:off x="9368450" y="3067735"/>
            <a:ext cx="892245" cy="2990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pt-BR" sz="1200" dirty="0">
                <a:solidFill>
                  <a:schemeClr val="tx1"/>
                </a:solidFill>
              </a:rPr>
              <a:t>Mês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CAE9DE5C-FBC1-5E47-267E-AA06593E074C}"/>
              </a:ext>
            </a:extLst>
          </p:cNvPr>
          <p:cNvSpPr txBox="1"/>
          <p:nvPr/>
        </p:nvSpPr>
        <p:spPr>
          <a:xfrm>
            <a:off x="10658683" y="2329024"/>
            <a:ext cx="835855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</a:rPr>
              <a:t>Caixa de seleção para alterar o indicador à ser visto no </a:t>
            </a:r>
            <a:r>
              <a:rPr lang="pt-BR" sz="900" dirty="0" err="1">
                <a:solidFill>
                  <a:srgbClr val="FF0000"/>
                </a:solidFill>
              </a:rPr>
              <a:t>gráfio</a:t>
            </a:r>
            <a:r>
              <a:rPr lang="pt-BR" sz="900" dirty="0">
                <a:solidFill>
                  <a:srgbClr val="FF0000"/>
                </a:solidFill>
              </a:rPr>
              <a:t>. (</a:t>
            </a:r>
            <a:r>
              <a:rPr lang="pt-BR" sz="900" dirty="0" err="1">
                <a:solidFill>
                  <a:srgbClr val="FF0000"/>
                </a:solidFill>
              </a:rPr>
              <a:t>Ex</a:t>
            </a:r>
            <a:r>
              <a:rPr lang="pt-BR" sz="900" dirty="0">
                <a:solidFill>
                  <a:srgbClr val="FF0000"/>
                </a:solidFill>
              </a:rPr>
              <a:t>: Satisfação, recomendação, atendimento, ...)</a:t>
            </a:r>
          </a:p>
        </p:txBody>
      </p: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B9AA09DF-85F7-DB8A-BFF8-07EA0B8F1688}"/>
              </a:ext>
            </a:extLst>
          </p:cNvPr>
          <p:cNvCxnSpPr>
            <a:cxnSpLocks/>
          </p:cNvCxnSpPr>
          <p:nvPr/>
        </p:nvCxnSpPr>
        <p:spPr>
          <a:xfrm>
            <a:off x="10317167" y="3214418"/>
            <a:ext cx="296153" cy="56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B2EB2E9-280E-06D1-3094-FAE4D5D49D6F}"/>
              </a:ext>
            </a:extLst>
          </p:cNvPr>
          <p:cNvSpPr txBox="1"/>
          <p:nvPr/>
        </p:nvSpPr>
        <p:spPr>
          <a:xfrm>
            <a:off x="9292101" y="2311152"/>
            <a:ext cx="73738" cy="1900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1200" dirty="0">
                <a:solidFill>
                  <a:srgbClr val="FF0000"/>
                </a:solidFill>
              </a:rPr>
              <a:t>v</a:t>
            </a:r>
            <a:endParaRPr lang="pt-BR" sz="1050" dirty="0">
              <a:solidFill>
                <a:srgbClr val="FF0000"/>
              </a:solidFill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A2834C97-0772-6870-5CF6-74BF0A79DA06}"/>
              </a:ext>
            </a:extLst>
          </p:cNvPr>
          <p:cNvSpPr txBox="1"/>
          <p:nvPr/>
        </p:nvSpPr>
        <p:spPr>
          <a:xfrm>
            <a:off x="10091155" y="3124647"/>
            <a:ext cx="73738" cy="1900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pt-BR" sz="1200" dirty="0">
                <a:solidFill>
                  <a:srgbClr val="FF0000"/>
                </a:solidFill>
              </a:rPr>
              <a:t>v</a:t>
            </a:r>
            <a:endParaRPr lang="pt-BR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31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8BAF7-6B2F-5A85-E18B-E5F83559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 descr="Logotipo&#10;&#10;O conteúdo gerado por IA pode estar incorreto.">
            <a:extLst>
              <a:ext uri="{FF2B5EF4-FFF2-40B4-BE49-F238E27FC236}">
                <a16:creationId xmlns:a16="http://schemas.microsoft.com/office/drawing/2014/main" id="{D2C96A09-B0C6-A1B8-2877-62DD263935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duotone>
              <a:prstClr val="black"/>
              <a:schemeClr val="tx2">
                <a:lumMod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250" y1="24250" x2="47250" y2="24250"/>
                        <a14:foregroundMark x1="49875" y1="21875" x2="49875" y2="21875"/>
                        <a14:foregroundMark x1="64250" y1="22250" x2="64250" y2="22250"/>
                        <a14:foregroundMark x1="62125" y1="25375" x2="62125" y2="25375"/>
                        <a14:foregroundMark x1="60625" y1="31250" x2="60625" y2="31250"/>
                        <a14:foregroundMark x1="65125" y1="28000" x2="65125" y2="28000"/>
                        <a14:foregroundMark x1="64750" y1="34375" x2="64750" y2="3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021" t="13881" r="25574" b="30354"/>
          <a:stretch>
            <a:fillRect/>
          </a:stretch>
        </p:blipFill>
        <p:spPr>
          <a:xfrm>
            <a:off x="-941216" y="-254999"/>
            <a:ext cx="7034057" cy="8103767"/>
          </a:xfrm>
          <a:prstGeom prst="rect">
            <a:avLst/>
          </a:prstGeom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58AB784-0A87-B6BF-86E9-821F91D55F2E}"/>
              </a:ext>
            </a:extLst>
          </p:cNvPr>
          <p:cNvSpPr/>
          <p:nvPr/>
        </p:nvSpPr>
        <p:spPr>
          <a:xfrm>
            <a:off x="336959" y="1241659"/>
            <a:ext cx="11479581" cy="5082038"/>
          </a:xfrm>
          <a:prstGeom prst="roundRect">
            <a:avLst>
              <a:gd name="adj" fmla="val 6326"/>
            </a:avLst>
          </a:prstGeom>
          <a:solidFill>
            <a:schemeClr val="bg1"/>
          </a:solidFill>
          <a:ln w="28575">
            <a:solidFill>
              <a:srgbClr val="005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pt-BR" sz="120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282811-2864-F0F5-4A8A-9F3FA17E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11299088" cy="715669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pt-BR"/>
              <a:t>Dashboard de acompanhamento – NPS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119C75-B904-9ADB-460D-BE5F66C55511}"/>
              </a:ext>
            </a:extLst>
          </p:cNvPr>
          <p:cNvSpPr txBox="1"/>
          <p:nvPr/>
        </p:nvSpPr>
        <p:spPr>
          <a:xfrm>
            <a:off x="452897" y="5823783"/>
            <a:ext cx="11277975" cy="124906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pPr algn="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GB" sz="800" b="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Selecione o posto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03C94D8-83C1-BD7F-C240-64FDCBEEE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32" y="1496287"/>
            <a:ext cx="11083636" cy="417343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7349690-D3C0-4C99-854C-9C2FF3603CD2}"/>
              </a:ext>
            </a:extLst>
          </p:cNvPr>
          <p:cNvSpPr/>
          <p:nvPr/>
        </p:nvSpPr>
        <p:spPr>
          <a:xfrm>
            <a:off x="1325691" y="6089282"/>
            <a:ext cx="8703222" cy="372677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FF0000"/>
                </a:solidFill>
              </a:rPr>
              <a:t>*Amostras abaixo de 30 respostas não devem ser consideradas pois não apresentam precisão estatística suficiente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BE959A8-B35B-28F9-8DF7-636AEF7D94BC}"/>
              </a:ext>
            </a:extLst>
          </p:cNvPr>
          <p:cNvSpPr txBox="1"/>
          <p:nvPr/>
        </p:nvSpPr>
        <p:spPr>
          <a:xfrm>
            <a:off x="1865111" y="2660285"/>
            <a:ext cx="221111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</a:rPr>
              <a:t>Configurar cálculo e exibição da Satisfação como média em escala de 1 a 10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5B82C37-0811-A906-1F18-88F6C39B0EDE}"/>
              </a:ext>
            </a:extLst>
          </p:cNvPr>
          <p:cNvCxnSpPr>
            <a:cxnSpLocks/>
          </p:cNvCxnSpPr>
          <p:nvPr/>
        </p:nvCxnSpPr>
        <p:spPr>
          <a:xfrm flipH="1">
            <a:off x="4076223" y="2865051"/>
            <a:ext cx="4195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9964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215</Words>
  <Application>Microsoft Office PowerPoint</Application>
  <PresentationFormat>Widescreen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Dashboard de acompanhamento – NPS </vt:lpstr>
      <vt:lpstr>Dashboard de acompanhamento – NPS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Perpetua</dc:creator>
  <cp:lastModifiedBy>Pedro Perpetua</cp:lastModifiedBy>
  <cp:revision>1</cp:revision>
  <dcterms:created xsi:type="dcterms:W3CDTF">2025-12-15T19:37:21Z</dcterms:created>
  <dcterms:modified xsi:type="dcterms:W3CDTF">2025-12-15T19:50:59Z</dcterms:modified>
</cp:coreProperties>
</file>